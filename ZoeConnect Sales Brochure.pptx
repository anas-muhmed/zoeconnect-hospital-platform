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20439" y="-1051560"/>
            <a:ext cx="8686800" cy="868680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182879"/>
            <a:ext cx="6949440" cy="69494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57800" y="685800"/>
            <a:ext cx="5212080" cy="52120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858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85800"/>
            <a:ext cx="329184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ENTERPRISE HEALTHCARE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8503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Hospital Digital</a:t>
            </a:r>
          </a:p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Services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4F9AD1"/>
                </a:solidFill>
                <a:latin typeface="Calibri"/>
              </a:rPr>
              <a:t>Transforming Patient Experience Through Intelligent Digital Healthcare Solutions</a:t>
            </a:r>
          </a:p>
        </p:txBody>
      </p:sp>
      <p:sp>
        <p:nvSpPr>
          <p:cNvPr id="10" name="Oval 9"/>
          <p:cNvSpPr/>
          <p:nvPr/>
        </p:nvSpPr>
        <p:spPr>
          <a:xfrm>
            <a:off x="9235440" y="100584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00584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A2E52"/>
                </a:solidFill>
                <a:latin typeface="Calibri"/>
              </a:rPr>
              <a:t>Q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60" y="16459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1645920"/>
            <a:ext cx="64008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A2E52"/>
                </a:solidFill>
                <a:latin typeface="Calibri"/>
              </a:rPr>
              <a:t>TV</a:t>
            </a:r>
          </a:p>
        </p:txBody>
      </p:sp>
      <p:sp>
        <p:nvSpPr>
          <p:cNvPr id="14" name="Oval 13"/>
          <p:cNvSpPr/>
          <p:nvPr/>
        </p:nvSpPr>
        <p:spPr>
          <a:xfrm>
            <a:off x="10277856" y="277977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7856" y="27797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FB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447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Smart Token Management  |  Digital CMS &amp; Patient Displays  |  Patient Feedback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ONE PLATFORM. THREE INTELLIGENT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Built for Hospitals That Refuse to Compromise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>ZoeConnect unifies patient queuing, digital signage, and feedback management into a single modular platform - deployed without disrupting the systems your hospital already relies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Reduction in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OPD waiting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Digital patient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touchpoints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Modules, one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unified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33172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478024"/>
            <a:ext cx="22402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B4D8"/>
                </a:solidFill>
                <a:latin typeface="Calibri"/>
              </a:rPr>
              <a:t>24x7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291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Live monitoring &amp;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TRUSTED CAPABILITIES ACROSS THE HOSPITAL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" y="460857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60857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57200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No disruption to existing HIS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8640" y="448056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32376" y="460857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2376" y="460857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0432" y="457200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Modular, phase-wise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7200" y="448056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50936" y="460857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0936" y="460857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8992" y="457200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Enterprise-grade security &amp; role-based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5780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3816" y="538581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38581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534924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Scalable across single or multi-branch hospitals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8640" y="525780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538581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538581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0432" y="534924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Cloud, on-premise or hybrid 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7200" y="5257800"/>
            <a:ext cx="3444240" cy="64008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50936" y="5385816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0936" y="5385816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8992" y="5349240"/>
            <a:ext cx="271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Future-proof, continuously expandable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ABOUT   | 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ABOUT ZoeConnect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 Modular Digital Backbone For Your Hospital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1264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>ZoeConnect is a modular hospital digital platform designed to work alongside your existing Hospital Information System (HIS) - not replace it. Each module solves a specific operational challenge, from patient queuing to digital signage to feedback management, and can be deployed independently or as a fully integrated suite.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E4C63"/>
                </a:solidFill>
                <a:latin typeface="Calibri"/>
              </a:rPr>
              <a:t>Hospitals grow. Departments change. Patient expectations rise every year. ZoeConnect is engineered as an evolving platform, so today's investment keeps paying off for years to come - secure, enterprise-ready, and built for the long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417320"/>
            <a:ext cx="4343400" cy="4572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60020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6CA8"/>
                </a:solidFill>
                <a:latin typeface="Calibri"/>
              </a:rPr>
              <a:t>THE ZoeConnect PLATFORM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05740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057400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HIS / Hospital Information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843784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843784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ZoeConnect Integration &amp; Security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630168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630168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Smart Token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416552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416552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Digital CMS &amp; Patient Displays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202936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5202936"/>
            <a:ext cx="3474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Patient Feedback Management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ABOUT   | 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WHY HOSPITALS CHOOSE ZoeConnect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Enterprise-Ready. Secure. Built To Last.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Zr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Zero Disruption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Integrates with your existing HIS and workflows - no rip-and-replace, no retraining shock.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Modular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Deploy one module or all three. Expand at your own pace, department by department.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Scalable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From a single OPD to multi-branch hospital chains, the same platform scales with you.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Enterprise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Role-based access, audit trails, and secure authentication across every module.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Cloud or On-Premise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Choose the deployment model that matches your IT policy and compliance needs.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Future-Proof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 growing library of modules ready to activate as your digital strategy matures.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ABOUT   | 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Three Modules. One Connected Patient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1851660"/>
            <a:ext cx="868680" cy="86868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851660"/>
            <a:ext cx="868680" cy="8686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Smart Token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End-to-end patient queuing, from registration to counter service.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33672" y="342900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352544" y="335584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1851660"/>
            <a:ext cx="868680" cy="86868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851660"/>
            <a:ext cx="868680" cy="8686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Digital CMS &amp; Patient Display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70332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Centralized digital signage across every screen in the hospital.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36992" y="342900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8055864" y="335584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16916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64040" y="1851660"/>
            <a:ext cx="868680" cy="868680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851660"/>
            <a:ext cx="868680" cy="8686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A2E52"/>
                </a:solidFill>
                <a:latin typeface="Calibri"/>
              </a:rPr>
              <a:t>Patient Feedback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0332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Capture, analyze, and act on the patient voice at every touchpoint.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7A93"/>
                </a:solidFill>
                <a:latin typeface="Calibri"/>
              </a:rPr>
              <a:t>Deploy independently, or connect all three for a fully unified digital patient experience across your hospital.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OVERVIEW   | 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301752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657600"/>
            <a:ext cx="4754880" cy="47548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297680"/>
            <a:ext cx="3474720" cy="347472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5544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Smart Token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complete, intelligent patient-queuing engine that replaces paper tokens and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manual calling with a live, auditable digital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42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Department-wise &amp; doctor-wise token queues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268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445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Priority and emergency queue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10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2861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Real-time reception &amp; counter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394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1266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Deep analytics on waiting time and service efficiency</a:t>
            </a:r>
          </a:p>
        </p:txBody>
      </p:sp>
      <p:sp>
        <p:nvSpPr>
          <p:cNvPr id="17" name="Oval 16"/>
          <p:cNvSpPr/>
          <p:nvPr/>
        </p:nvSpPr>
        <p:spPr>
          <a:xfrm>
            <a:off x="9464040" y="123444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234440"/>
            <a:ext cx="1371600" cy="1371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0A2E52"/>
                </a:solidFill>
                <a:latin typeface="Calibri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ZoeConnect - ZoeConnect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7395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MODULE 1   | 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SMART TOKEN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The Complete Patient Journey, Digitized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847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203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320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Rg</a:t>
            </a:r>
          </a:p>
        </p:txBody>
      </p:sp>
      <p:sp>
        <p:nvSpPr>
          <p:cNvPr id="9" name="Oval 8"/>
          <p:cNvSpPr/>
          <p:nvPr/>
        </p:nvSpPr>
        <p:spPr>
          <a:xfrm>
            <a:off x="168843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843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Patient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Registration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90775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209647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28519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8519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90875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0875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Tk</a:t>
            </a:r>
          </a:p>
        </p:txBody>
      </p:sp>
      <p:sp>
        <p:nvSpPr>
          <p:cNvPr id="18" name="Oval 17"/>
          <p:cNvSpPr/>
          <p:nvPr/>
        </p:nvSpPr>
        <p:spPr>
          <a:xfrm>
            <a:off x="3636111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6111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9959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Token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Generation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38447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157319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76191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6191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38547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8547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Qu</a:t>
            </a:r>
          </a:p>
        </p:txBody>
      </p:sp>
      <p:sp>
        <p:nvSpPr>
          <p:cNvPr id="27" name="Oval 26"/>
          <p:cNvSpPr/>
          <p:nvPr/>
        </p:nvSpPr>
        <p:spPr>
          <a:xfrm>
            <a:off x="5583783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3783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7631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Live Queue &amp;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Monitoring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6119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6104991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23863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23863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86219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6219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Cl</a:t>
            </a:r>
          </a:p>
        </p:txBody>
      </p:sp>
      <p:sp>
        <p:nvSpPr>
          <p:cNvPr id="36" name="Oval 35"/>
          <p:cNvSpPr/>
          <p:nvPr/>
        </p:nvSpPr>
        <p:spPr>
          <a:xfrm>
            <a:off x="7531455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1455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303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Counter Call,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Recall / Skip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33791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8052663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71535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71535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33891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3891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5" name="Oval 44"/>
          <p:cNvSpPr/>
          <p:nvPr/>
        </p:nvSpPr>
        <p:spPr>
          <a:xfrm>
            <a:off x="9479127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79127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2975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Consultation /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Service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881463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10000335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19207" y="2103120"/>
            <a:ext cx="1691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19207" y="2103120"/>
            <a:ext cx="169164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81563" y="2276856"/>
            <a:ext cx="566928" cy="56692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8156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54" name="Oval 53"/>
          <p:cNvSpPr/>
          <p:nvPr/>
        </p:nvSpPr>
        <p:spPr>
          <a:xfrm>
            <a:off x="1142679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2679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10647" y="301752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Complete &amp;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Analytics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SUPPORTED PATIENT ENTRY POINTS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Walk-in Patients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2900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Online Appointments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Priority Tokens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0684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684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Emergency Queue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Every Token, Perfectly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Patient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Fast front-desk or self-service registration feeding directly into the queue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Qu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Queue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Configurable queues per department, service, or doctor in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Department-wise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Separate token series for OPD, IPD, diagnostics, pharmacy and more.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Doctor-wise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Patients queue against their specific doctor, not just a department.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Priority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Senior citizens, differently-abled and pre-approved priority patients served first.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Emergency 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A dedicated, always-on-top queue for critical and emergency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Walk-in Patients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Instant token issuance for walk-ins alongside scheduled appointments.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Appointments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Appointment-linked tokens keep scheduled and walk-in flows perfectly balanced.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LIVE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Reception &amp; Counter, Working In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114800" cy="2880360"/>
          </a:xfrm>
          <a:prstGeom prst="roundRect">
            <a:avLst>
              <a:gd name="adj" fmla="val 4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4114800" cy="457200"/>
          </a:xfrm>
          <a:prstGeom prst="roundRect">
            <a:avLst>
              <a:gd name="adj" fmla="val 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54480"/>
            <a:ext cx="3712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Counter Dashboard - Live Call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9AD1"/>
                </a:solidFill>
                <a:latin typeface="Calibri"/>
              </a:rPr>
              <a:t>LIVE - Counter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3712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 - 102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37560"/>
            <a:ext cx="3712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9AD1"/>
                </a:solidFill>
                <a:latin typeface="Calibri"/>
              </a:rPr>
              <a:t>Dr. S. Rao - General Medicine - OPD-2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1172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1172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81096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096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SKIP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1020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1020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20944" y="3867912"/>
            <a:ext cx="632764" cy="38404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0944" y="3867912"/>
            <a:ext cx="63276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XFER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160020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60020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158191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Live Queue &amp;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183794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Real-time visibility of every waiting patient across all counters.</a:t>
            </a:r>
          </a:p>
        </p:txBody>
      </p:sp>
      <p:sp>
        <p:nvSpPr>
          <p:cNvPr id="26" name="Oval 25"/>
          <p:cNvSpPr/>
          <p:nvPr/>
        </p:nvSpPr>
        <p:spPr>
          <a:xfrm>
            <a:off x="5074920" y="246888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4688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245059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Reception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270662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Front-desk view to register, assign, and track patients hospital-wide.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333756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3375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41848" y="331927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Counter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1848" y="357530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Doctor / counter-side controls for calling, serving and transferring tokens.</a:t>
            </a:r>
          </a:p>
        </p:txBody>
      </p:sp>
      <p:sp>
        <p:nvSpPr>
          <p:cNvPr id="34" name="Oval 33"/>
          <p:cNvSpPr/>
          <p:nvPr/>
        </p:nvSpPr>
        <p:spPr>
          <a:xfrm>
            <a:off x="5074920" y="420624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42062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41848" y="418795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Full Token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1848" y="444398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Call, Recall, Skip, Transfer, Hold, Resume, Complete, Cancel, logged instantly.</a:t>
            </a:r>
          </a:p>
        </p:txBody>
      </p:sp>
      <p:sp>
        <p:nvSpPr>
          <p:cNvPr id="38" name="Oval 37"/>
          <p:cNvSpPr/>
          <p:nvPr/>
        </p:nvSpPr>
        <p:spPr>
          <a:xfrm>
            <a:off x="5074920" y="507492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50749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8" y="5056632"/>
            <a:ext cx="5879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Missed Token Handling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41848" y="5312664"/>
            <a:ext cx="5879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Missed tokens are automatically flagged and can be recalled or reassigned.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ANALYTICS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Turn Queue Data Into Operational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709160" cy="306324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Calibri"/>
              </a:rPr>
              <a:t>AVG. WAITING TIME BY DEPARTMENT (MIN)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19687"/>
            <a:ext cx="420624" cy="1532273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OPD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1368" y="3230445"/>
            <a:ext cx="420624" cy="1021515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5648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6" y="3485824"/>
            <a:ext cx="420624" cy="766136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Pharmacy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464308"/>
            <a:ext cx="420624" cy="1787652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Radio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3060192"/>
            <a:ext cx="420624" cy="1191768"/>
          </a:xfrm>
          <a:prstGeom prst="roundRect">
            <a:avLst>
              <a:gd name="adj" fmla="val 1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IPD</a:t>
            </a:r>
          </a:p>
        </p:txBody>
      </p:sp>
      <p:sp>
        <p:nvSpPr>
          <p:cNvPr id="17" name="Oval 16"/>
          <p:cNvSpPr/>
          <p:nvPr/>
        </p:nvSpPr>
        <p:spPr>
          <a:xfrm>
            <a:off x="5623560" y="160934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60934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59105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Queue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84708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Live and historical view of queue length, load, and flow per counter.</a:t>
            </a:r>
          </a:p>
        </p:txBody>
      </p:sp>
      <p:sp>
        <p:nvSpPr>
          <p:cNvPr id="21" name="Oval 20"/>
          <p:cNvSpPr/>
          <p:nvPr/>
        </p:nvSpPr>
        <p:spPr>
          <a:xfrm>
            <a:off x="8394192" y="160934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60934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59105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Department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84708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Compare volumes and performance across every department.</a:t>
            </a:r>
          </a:p>
        </p:txBody>
      </p:sp>
      <p:sp>
        <p:nvSpPr>
          <p:cNvPr id="25" name="Oval 24"/>
          <p:cNvSpPr/>
          <p:nvPr/>
        </p:nvSpPr>
        <p:spPr>
          <a:xfrm>
            <a:off x="5623560" y="266090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26609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64261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Waiting Time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89864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Track and reduce average patient waiting time hospital-wide.</a:t>
            </a:r>
          </a:p>
        </p:txBody>
      </p:sp>
      <p:sp>
        <p:nvSpPr>
          <p:cNvPr id="29" name="Oval 28"/>
          <p:cNvSpPr/>
          <p:nvPr/>
        </p:nvSpPr>
        <p:spPr>
          <a:xfrm>
            <a:off x="8394192" y="266090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6609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64261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Avg. Service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89864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Understand exactly how long each consultation or service takes.</a:t>
            </a:r>
          </a:p>
        </p:txBody>
      </p:sp>
      <p:sp>
        <p:nvSpPr>
          <p:cNvPr id="33" name="Oval 32"/>
          <p:cNvSpPr/>
          <p:nvPr/>
        </p:nvSpPr>
        <p:spPr>
          <a:xfrm>
            <a:off x="5623560" y="371246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371246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369417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Daily &amp; Monthly 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395020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Auto-generated operational reports for management review.</a:t>
            </a:r>
          </a:p>
        </p:txBody>
      </p:sp>
      <p:sp>
        <p:nvSpPr>
          <p:cNvPr id="37" name="Oval 36"/>
          <p:cNvSpPr/>
          <p:nvPr/>
        </p:nvSpPr>
        <p:spPr>
          <a:xfrm>
            <a:off x="8394192" y="3712464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371246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694176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History &amp; Audit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95020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C63"/>
                </a:solidFill>
                <a:latin typeface="Calibri"/>
              </a:rPr>
              <a:t>Every token action is time-stamped and fully auditable.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ENTERPRISE CONTROLS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Governed, Connected, Ready To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Granular permissions for reception, counters, supervisors and admins.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Multi-branch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Manage token operations across multiple hospital locations centrally.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Multi-counter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Any number of counters, departments and service points, one platform.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Queue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SMS / on-screen alerts keep patients informed without crowding counters.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Live Queue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Expose real-time queue data to kiosks, apps, and third-party systems.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HIS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Two-way integration with your existing Hospital Information System.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Auto Patient Registration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New HIS registrations automatically flow into the queue engine.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Token Display Integration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3E4C63"/>
                </a:solidFill>
                <a:latin typeface="Calibri"/>
              </a:rPr>
              <a:t>Tokens push instantly to reception, waiting-area and counter displays.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1 -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Why Hospitals See Results Within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Business 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Lower staffing pressure at reception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Reduced patient walkouts and complaints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Stronger brand perception as a modern hospital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Operational Advantages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Balanced load across doctors and counters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Fewer manual errors in patient calling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Faster turnaround per patient visit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Patient Experience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No more standing in physical queues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Clear, live visibility of wait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Fair, transparent, priority-aware 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Hospital Benefits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Full audit trail for NABH &amp; compliance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Data-driven staffing &amp; capacity planning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Foundation for future digital modules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1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301752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657600"/>
            <a:ext cx="4754880" cy="47548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297680"/>
            <a:ext cx="3474720" cy="347472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5544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Digital CMS &amp; Patient Display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complete digital signage platform that turns every screen in your hospital into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branded, informative, always-current patient touchpoint.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42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Centralized content across waiting areas, OPD, IPD, OT &amp; emergency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268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445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Drag-and-drop playlist and display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10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2861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Works online or offline with automatic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394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1266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Live queue widgets, tickers, announcements &amp; more</a:t>
            </a:r>
          </a:p>
        </p:txBody>
      </p:sp>
      <p:sp>
        <p:nvSpPr>
          <p:cNvPr id="17" name="Oval 16"/>
          <p:cNvSpPr/>
          <p:nvPr/>
        </p:nvSpPr>
        <p:spPr>
          <a:xfrm>
            <a:off x="9464040" y="123444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234440"/>
            <a:ext cx="1371600" cy="1371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0A2E52"/>
                </a:solidFill>
                <a:latin typeface="Calibri"/>
              </a:rPr>
              <a:t>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ZoeConnect - ZoeConnect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7395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MODULE 2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One Content Hub. Every Screen, In Sync.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8399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8399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Md</a:t>
            </a:r>
          </a:p>
        </p:txBody>
      </p:sp>
      <p:sp>
        <p:nvSpPr>
          <p:cNvPr id="9" name="Oval 8"/>
          <p:cNvSpPr/>
          <p:nvPr/>
        </p:nvSpPr>
        <p:spPr>
          <a:xfrm>
            <a:off x="2250795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0795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323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Upload Media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&amp; Content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3131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772003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0391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0391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Pl</a:t>
            </a:r>
          </a:p>
        </p:txBody>
      </p:sp>
      <p:sp>
        <p:nvSpPr>
          <p:cNvPr id="18" name="Oval 17"/>
          <p:cNvSpPr/>
          <p:nvPr/>
        </p:nvSpPr>
        <p:spPr>
          <a:xfrm>
            <a:off x="4472787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2787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2315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Build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Playlists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75123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993995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12383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238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27" name="Oval 26"/>
          <p:cNvSpPr/>
          <p:nvPr/>
        </p:nvSpPr>
        <p:spPr>
          <a:xfrm>
            <a:off x="669477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477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307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Assign to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Screen Groups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97115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215987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34375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4375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Pb</a:t>
            </a:r>
          </a:p>
        </p:txBody>
      </p:sp>
      <p:sp>
        <p:nvSpPr>
          <p:cNvPr id="36" name="Oval 35"/>
          <p:cNvSpPr/>
          <p:nvPr/>
        </p:nvSpPr>
        <p:spPr>
          <a:xfrm>
            <a:off x="8916771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6771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6299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Publish -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Real-time / Scheduled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19107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9437979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56367" y="2276856"/>
            <a:ext cx="566928" cy="566928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56367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</a:t>
            </a:r>
          </a:p>
        </p:txBody>
      </p:sp>
      <p:sp>
        <p:nvSpPr>
          <p:cNvPr id="45" name="Oval 44"/>
          <p:cNvSpPr/>
          <p:nvPr/>
        </p:nvSpPr>
        <p:spPr>
          <a:xfrm>
            <a:off x="11138763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8763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8291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Monitor Health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&amp; Diagnostics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RESILIENT BY DESIGN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Offline Cache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Automatic Sync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Heartbeat Monitoring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0684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Emergency Override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CONTENT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Media Library &amp; Playlist Builder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Rich Media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Images, videos, PDFs, announcements and emergency messages, all in one library.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Emergency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Push critical alerts instantly to every connected screen, overriding schedules.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Drag-and-Drop Playlists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Build and reorder screen playlists visually, no technical skill required.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Display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Assign playlists to individual screens or entire screen groups in seconds.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Screen Groups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Group displays by ward, floor or branch for one-click content updates.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Asset Cleanup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Automatic housekeeping keeps your media library lean and organized.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DISPLAY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Every Screen In The Hospital, One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562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830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Waiting Area Display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8562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17830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Reception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7373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8562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7830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 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3375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4564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3832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375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IP Display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004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0560" y="33375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34564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33832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3375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Emergency Display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0040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83880" y="33375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45643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3832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B4D8"/>
                </a:solidFill>
                <a:latin typeface="Calibri"/>
              </a:rPr>
              <a:t>ON 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337560"/>
            <a:ext cx="31546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Operation Theatre 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B7A93"/>
                </a:solidFill>
                <a:latin typeface="Calibri"/>
              </a:rPr>
              <a:t>Runs on Android TV, browser-based smart TVs, or any standard display, indoors or outdoors.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SMART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Always On. Always Current. Always Monitored.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Real-time Publishing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Push new content to every screen instantly, no manual refresh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Scheduled Publishing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Plan campaigns, health drives, and announcements in advance.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Remote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Update any display remotely from a single centralized console.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Offline 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Displays keep running smoothly even during network interruptions.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Automatic 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Content re-syncs automatically the moment connectivity returns.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Heartbeat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Every display continuously reports its live health status.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Display Health &amp; Diagnostics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Spot faulty or offline displays before patients notice.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Emergency Override &amp; Maintenance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Instantly override all content hospital-wide for critical alerts.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PATIENT ENGAGEMENT WIDGETS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Dynamic Widgets That Keep Patients Informed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Qw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Live Queue Widget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Real-time token status embedded directly into any display.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Scrolling News Ticker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A continuous ticker for announcements, alerts and hospital news.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Weather Widget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Live local weather, useful context for patients and visitors.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Hospital Announcements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Instant, centralized announcements across every screen.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Health Tips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Rotating preventive-care and wellness tips between appointments.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Br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Brand Promotions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Promote hospital services, packages and health camps.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Patient Education Videos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Condition-specific education content, exactly where patients wait.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4114800"/>
            <a:ext cx="2548890" cy="233172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427024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427024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482803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Doctor Availability &amp; Events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5175504"/>
            <a:ext cx="21099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Live doctor schedules and hospital events, always up to date.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2 -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Screens That Work For Your Hospital, Not Just On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Patient Engagement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Reduced perceived waiting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Clear, always-current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Better-informed, less anxious patients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Hospital Branding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Consistent, professional look hospital-wide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Showcase specialities &amp; achievements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Reinforce trust at every touchpoint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Revenue Opportunities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Promote health packages &amp; camps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Cross-sell diagnostic &amp; speciality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Sponsorship &amp; partner content slots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Operational Benefits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One console for every screen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Instant hospital-wide emergency 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Lower IT overhead &amp; maintenance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2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301752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657600"/>
            <a:ext cx="4754880" cy="47548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297680"/>
            <a:ext cx="3474720" cy="347472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5544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MODULE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Patient Feedback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A complete digital feedback journey - from QR-code capture at every touchpoint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F9AD1"/>
                </a:solidFill>
                <a:latin typeface="Calibri"/>
              </a:rPr>
              <a:t>to NABH-ready analytics and reputation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42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Drag-and-drop form builder with 10+ question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268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445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QR-based, department / doctor / branch-specific campaigns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10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2861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Google Review integration for positive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3949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1266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Deep analytics for quality &amp; NABH accreditation</a:t>
            </a:r>
          </a:p>
        </p:txBody>
      </p:sp>
      <p:sp>
        <p:nvSpPr>
          <p:cNvPr id="17" name="Oval 16"/>
          <p:cNvSpPr/>
          <p:nvPr/>
        </p:nvSpPr>
        <p:spPr>
          <a:xfrm>
            <a:off x="9464040" y="123444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234440"/>
            <a:ext cx="1371600" cy="1371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0A2E52"/>
                </a:solidFill>
                <a:latin typeface="Calibri"/>
              </a:rPr>
              <a:t>FB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ZoeConnect - ZoeConnect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7395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F9AD1"/>
                </a:solidFill>
                <a:latin typeface="Calibri"/>
              </a:rPr>
              <a:t>MODULE 3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THE FEEDBACK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From A Scan To An Actionable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8883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8399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8399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Qr</a:t>
            </a:r>
          </a:p>
        </p:txBody>
      </p:sp>
      <p:sp>
        <p:nvSpPr>
          <p:cNvPr id="9" name="Oval 8"/>
          <p:cNvSpPr/>
          <p:nvPr/>
        </p:nvSpPr>
        <p:spPr>
          <a:xfrm>
            <a:off x="2250795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0795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323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Patient Scans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QR Code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3131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772003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0875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0391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0391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Fm</a:t>
            </a:r>
          </a:p>
        </p:txBody>
      </p:sp>
      <p:sp>
        <p:nvSpPr>
          <p:cNvPr id="18" name="Oval 17"/>
          <p:cNvSpPr/>
          <p:nvPr/>
        </p:nvSpPr>
        <p:spPr>
          <a:xfrm>
            <a:off x="4472787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2787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2315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Completes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Digital Form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75123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993995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12867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12383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2383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Rt</a:t>
            </a:r>
          </a:p>
        </p:txBody>
      </p:sp>
      <p:sp>
        <p:nvSpPr>
          <p:cNvPr id="27" name="Oval 26"/>
          <p:cNvSpPr/>
          <p:nvPr/>
        </p:nvSpPr>
        <p:spPr>
          <a:xfrm>
            <a:off x="6694779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4779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307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Rating &amp;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Sentiment Captured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97115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215987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34859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34375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4375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Rv</a:t>
            </a:r>
          </a:p>
        </p:txBody>
      </p:sp>
      <p:sp>
        <p:nvSpPr>
          <p:cNvPr id="36" name="Oval 35"/>
          <p:cNvSpPr/>
          <p:nvPr/>
        </p:nvSpPr>
        <p:spPr>
          <a:xfrm>
            <a:off x="8916771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6771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6299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Positive -&gt; Google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Review Prompt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19107" y="2560320"/>
            <a:ext cx="219456" cy="0"/>
          </a:xfrm>
          <a:prstGeom prst="line">
            <a:avLst/>
          </a:prstGeom>
          <a:ln w="28575">
            <a:solidFill>
              <a:srgbClr val="4F9A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9437979" y="2487168"/>
            <a:ext cx="146304" cy="146304"/>
          </a:xfrm>
          <a:prstGeom prst="triangl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56851" y="2103120"/>
            <a:ext cx="1965960" cy="173736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56367" y="2276856"/>
            <a:ext cx="566928" cy="56692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56367" y="227685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Cw</a:t>
            </a:r>
          </a:p>
        </p:txBody>
      </p:sp>
      <p:sp>
        <p:nvSpPr>
          <p:cNvPr id="45" name="Oval 44"/>
          <p:cNvSpPr/>
          <p:nvPr/>
        </p:nvSpPr>
        <p:spPr>
          <a:xfrm>
            <a:off x="11138763" y="1975104"/>
            <a:ext cx="384048" cy="384048"/>
          </a:xfrm>
          <a:prstGeom prst="ellipse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8763" y="197510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8291" y="301752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Negative -&gt; Internal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Complaint Workflow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AVAILABLE EVERYWHERE, ANY DEVICE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Mobile Friendly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Tablet Friendly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Anonymous or Authenticated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06840" y="470916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4709160"/>
            <a:ext cx="2514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Multi-language Support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FORM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Ask The Right Question, The Right 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846320" cy="43434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6CA8"/>
                </a:solidFill>
                <a:latin typeface="Calibri"/>
              </a:rPr>
              <a:t>QUESTION TYPES SUPPORTED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Star 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148840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4884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Emoji 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79776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79776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Text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779776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779776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Dropdown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10712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0712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Checkbox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410712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410712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Radio Button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041648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41648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Date Picker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041648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041648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File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72584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72584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Signature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4672584"/>
            <a:ext cx="214884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672584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0A2E52"/>
                </a:solidFill>
                <a:latin typeface="Calibri"/>
              </a:rPr>
              <a:t>Conditional Logic</a:t>
            </a:r>
          </a:p>
        </p:txBody>
      </p:sp>
      <p:sp>
        <p:nvSpPr>
          <p:cNvPr id="27" name="Oval 26"/>
          <p:cNvSpPr/>
          <p:nvPr/>
        </p:nvSpPr>
        <p:spPr>
          <a:xfrm>
            <a:off x="5806440" y="169164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6916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167335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Drag-and-Drop Builder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192938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Design multi-page feedback forms visually, no coding required.</a:t>
            </a:r>
          </a:p>
        </p:txBody>
      </p:sp>
      <p:sp>
        <p:nvSpPr>
          <p:cNvPr id="31" name="Oval 30"/>
          <p:cNvSpPr/>
          <p:nvPr/>
        </p:nvSpPr>
        <p:spPr>
          <a:xfrm>
            <a:off x="5806440" y="269748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26974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67919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Multi-language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293522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Collect feedback in the patient's preferred language.</a:t>
            </a:r>
          </a:p>
        </p:txBody>
      </p:sp>
      <p:sp>
        <p:nvSpPr>
          <p:cNvPr id="35" name="Oval 34"/>
          <p:cNvSpPr/>
          <p:nvPr/>
        </p:nvSpPr>
        <p:spPr>
          <a:xfrm>
            <a:off x="5806440" y="370332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7033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68503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Conditional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4106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Show or hide questions dynamically based on prior answers.</a:t>
            </a:r>
          </a:p>
        </p:txBody>
      </p:sp>
      <p:sp>
        <p:nvSpPr>
          <p:cNvPr id="39" name="Oval 38"/>
          <p:cNvSpPr/>
          <p:nvPr/>
        </p:nvSpPr>
        <p:spPr>
          <a:xfrm>
            <a:off x="5806440" y="470916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47091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469087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Department / Doctor / Branch Specific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4946904"/>
            <a:ext cx="5148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Tailor questions precisely to context and location.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CAMPAIGNS &amp; PUBLIC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Capture Feedback At Every Touchpoint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4343400"/>
          </a:xfrm>
          <a:prstGeom prst="roundRect">
            <a:avLst>
              <a:gd name="adj" fmla="val 5000"/>
            </a:avLst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SCAN &amp;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16736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4752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56816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4832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12848" y="228600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16736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44752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56816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84832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2848" y="241401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4752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6816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4832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12848" y="254203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16736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72768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00784" y="267004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2798064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2798064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84832" y="2798064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88720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16736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00784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0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292608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88720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16736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44752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00784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56816" y="3054096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88720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44752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0" y="3182112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88720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316736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44752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828800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4832" y="331012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" y="4434840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455371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Every QR links to 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branch, doctor or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department-specific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feedback form.</a:t>
            </a:r>
          </a:p>
        </p:txBody>
      </p:sp>
      <p:sp>
        <p:nvSpPr>
          <p:cNvPr id="55" name="Oval 54"/>
          <p:cNvSpPr/>
          <p:nvPr/>
        </p:nvSpPr>
        <p:spPr>
          <a:xfrm>
            <a:off x="4343400" y="169164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16916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10328" y="167335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Campaign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10328" y="192938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Launch and track feedback campaigns by branch, department or event.</a:t>
            </a:r>
          </a:p>
        </p:txBody>
      </p:sp>
      <p:sp>
        <p:nvSpPr>
          <p:cNvPr id="59" name="Oval 58"/>
          <p:cNvSpPr/>
          <p:nvPr/>
        </p:nvSpPr>
        <p:spPr>
          <a:xfrm>
            <a:off x="4343400" y="269748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3400" y="26974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0328" y="267919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Doctor / Department / Branch Specific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0328" y="293522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Route feedback precisely to where the experience happened.</a:t>
            </a:r>
          </a:p>
        </p:txBody>
      </p:sp>
      <p:sp>
        <p:nvSpPr>
          <p:cNvPr id="63" name="Oval 62"/>
          <p:cNvSpPr/>
          <p:nvPr/>
        </p:nvSpPr>
        <p:spPr>
          <a:xfrm>
            <a:off x="4343400" y="370332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37033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10328" y="368503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Public Feedback Portal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0328" y="394106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A clean, mobile-friendly portal accessible without app installs.</a:t>
            </a:r>
          </a:p>
        </p:txBody>
      </p:sp>
      <p:sp>
        <p:nvSpPr>
          <p:cNvPr id="67" name="Oval 66"/>
          <p:cNvSpPr/>
          <p:nvPr/>
        </p:nvSpPr>
        <p:spPr>
          <a:xfrm>
            <a:off x="4343400" y="4709160"/>
            <a:ext cx="384048" cy="384048"/>
          </a:xfrm>
          <a:prstGeom prst="ellipse">
            <a:avLst/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47091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10328" y="4690872"/>
            <a:ext cx="6611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E52"/>
                </a:solidFill>
                <a:latin typeface="Calibri"/>
              </a:rPr>
              <a:t>Anonymous or Authenticated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10328" y="4946904"/>
            <a:ext cx="6611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E4C63"/>
                </a:solidFill>
                <a:latin typeface="Calibri"/>
              </a:rPr>
              <a:t>Support both open feedback and verified patient identity.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REPUTATION &amp;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Turn Happy Patients Into Public Advocates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64008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01168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Positive Feedback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Patients who leave a high rating are instantly and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seamlessly redirected to post a public Google Review,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turning satisfied patients into your strongest marketing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asset.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4340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31089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GOOGLE REVIEW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20840" y="2011680"/>
            <a:ext cx="640080" cy="640080"/>
          </a:xfrm>
          <a:prstGeom prst="ellipse">
            <a:avLst/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011680"/>
            <a:ext cx="64008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01168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Constructive Feedback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8036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Lower ratings route directly into an internal complaint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workflow, ensuring every concern is tracked, assigned,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E4C63"/>
                </a:solidFill>
                <a:latin typeface="Calibri"/>
              </a:rPr>
              <a:t>and resolved before it ever reaches a public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34340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343400"/>
            <a:ext cx="35661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INTERNAL COMPLAINT WORKFLOW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REPORTS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Quality Insight At Department, Doctor &amp; Branch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709160" cy="306324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Calibri"/>
              </a:rPr>
              <a:t>AVERAGE PATIENT SATISFACTION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64308"/>
            <a:ext cx="420624" cy="1787652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OPD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1368" y="2580894"/>
            <a:ext cx="420624" cy="1671066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5648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6" y="2658618"/>
            <a:ext cx="420624" cy="1593342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IPD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503170"/>
            <a:ext cx="420624" cy="1748790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Pharm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736342"/>
            <a:ext cx="420624" cy="1515618"/>
          </a:xfrm>
          <a:prstGeom prst="roundRect">
            <a:avLst>
              <a:gd name="adj" fmla="val 15000"/>
            </a:avLst>
          </a:prstGeom>
          <a:solidFill>
            <a:srgbClr val="4F9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4288536"/>
            <a:ext cx="512064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93"/>
                </a:solidFill>
                <a:latin typeface="Calibri"/>
              </a:rPr>
              <a:t>ER</a:t>
            </a:r>
          </a:p>
        </p:txBody>
      </p:sp>
      <p:sp>
        <p:nvSpPr>
          <p:cNvPr id="17" name="Oval 16"/>
          <p:cNvSpPr/>
          <p:nvPr/>
        </p:nvSpPr>
        <p:spPr>
          <a:xfrm>
            <a:off x="5623560" y="155448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55448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53619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Department &amp; Doctor Ratings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79222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Granular satisfaction scores by department and individual doctor.</a:t>
            </a:r>
          </a:p>
        </p:txBody>
      </p:sp>
      <p:sp>
        <p:nvSpPr>
          <p:cNvPr id="21" name="Oval 20"/>
          <p:cNvSpPr/>
          <p:nvPr/>
        </p:nvSpPr>
        <p:spPr>
          <a:xfrm>
            <a:off x="5623560" y="242316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42316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40487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Branch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66090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Compare patient experience consistently across every branch.</a:t>
            </a:r>
          </a:p>
        </p:txBody>
      </p:sp>
      <p:sp>
        <p:nvSpPr>
          <p:cNvPr id="25" name="Oval 24"/>
          <p:cNvSpPr/>
          <p:nvPr/>
        </p:nvSpPr>
        <p:spPr>
          <a:xfrm>
            <a:off x="5623560" y="329184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329184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27355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Trend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52958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Track satisfaction trends over time to measure improvement.</a:t>
            </a:r>
          </a:p>
        </p:txBody>
      </p:sp>
      <p:sp>
        <p:nvSpPr>
          <p:cNvPr id="29" name="Oval 28"/>
          <p:cNvSpPr/>
          <p:nvPr/>
        </p:nvSpPr>
        <p:spPr>
          <a:xfrm>
            <a:off x="5623560" y="416052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416052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414223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Export &amp; Audit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439826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Export reports for management, and maintain a full audit trail.</a:t>
            </a:r>
          </a:p>
        </p:txBody>
      </p:sp>
      <p:sp>
        <p:nvSpPr>
          <p:cNvPr id="33" name="Oval 32"/>
          <p:cNvSpPr/>
          <p:nvPr/>
        </p:nvSpPr>
        <p:spPr>
          <a:xfrm>
            <a:off x="5623560" y="5029200"/>
            <a:ext cx="384048" cy="384048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5029200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5010912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2E52"/>
                </a:solidFill>
                <a:latin typeface="Calibri"/>
              </a:rPr>
              <a:t>Role-based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5266944"/>
            <a:ext cx="5330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3E4C63"/>
                </a:solidFill>
                <a:latin typeface="Calibri"/>
              </a:rPr>
              <a:t>Ensure only the right people see the right feedback data.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MODULE 3 -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The Patient Voice, Turned Into Measurable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NABH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Structured, auditable feedback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Ready-made reports for accreditation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Consistent quality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Quality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Early warning on service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Doctor &amp; department-level accountability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Data-backed corrective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Patient Satisfaction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Patients feel genuinely heard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Faster resolution of concerns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Higher trust and loyalty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554480"/>
            <a:ext cx="2587752" cy="434340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73736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0B4D8"/>
                </a:solidFill>
                <a:latin typeface="Calibri"/>
              </a:rPr>
              <a:t>Brand Reputation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8008" y="24003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2295144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More authentic positive Google reviews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31135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3008376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Fewer public complaints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8" y="38267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3721608"/>
            <a:ext cx="200253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Calibri"/>
              </a:rPr>
              <a:t>Stronger digital reputation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MODULE 3   |  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THE ZoeConnect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Traditional Hospital vs. ZoeConnect-Enabled Hospital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40680" cy="50292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600200"/>
            <a:ext cx="5440680" cy="50292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TRADITIONAL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00200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ZoeConnect-ENABLED HOSPITAL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440680" cy="603504"/>
          </a:xfrm>
          <a:prstGeom prst="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103120"/>
            <a:ext cx="5440680" cy="603504"/>
          </a:xfrm>
          <a:prstGeom prst="rect">
            <a:avLst/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Manual paper queue &amp; shouting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Digital queue with live tokens &amp; display calling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06624"/>
            <a:ext cx="54406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706624"/>
            <a:ext cx="5440680" cy="603504"/>
          </a:xfrm>
          <a:prstGeom prst="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06624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Paper feedback forms, rarely analyzed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06624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Digital feedback captured &amp; analyzed in real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10128"/>
            <a:ext cx="5440680" cy="603504"/>
          </a:xfrm>
          <a:prstGeom prst="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310128"/>
            <a:ext cx="5440680" cy="603504"/>
          </a:xfrm>
          <a:prstGeom prst="rect">
            <a:avLst/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10128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Static TV playing the same loop all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10128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Smart digital signage, centrally managed &amp;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13632"/>
            <a:ext cx="54406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913632"/>
            <a:ext cx="5440680" cy="603504"/>
          </a:xfrm>
          <a:prstGeom prst="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13632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Manual, delayed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13632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Automated, real-time analytics &amp;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17136"/>
            <a:ext cx="5440680" cy="603504"/>
          </a:xfrm>
          <a:prstGeom prst="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4517136"/>
            <a:ext cx="5440680" cy="603504"/>
          </a:xfrm>
          <a:prstGeom prst="rect">
            <a:avLst/>
          </a:prstGeom>
          <a:solidFill>
            <a:srgbClr val="E4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17136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Manual announcements via PA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17136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Centralized CMS pushes instantly to every screen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120640"/>
            <a:ext cx="54406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5120640"/>
            <a:ext cx="5440680" cy="603504"/>
          </a:xfrm>
          <a:prstGeom prst="rect">
            <a:avLst/>
          </a:prstGeom>
          <a:solidFill>
            <a:srgbClr val="DD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E4C63"/>
                </a:solidFill>
                <a:latin typeface="Calibri"/>
              </a:rPr>
              <a:t>x  No visibility into patient sentiment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1206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OK  Real-time satisfaction dashboard, always 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600200"/>
            <a:ext cx="10881360" cy="4123944"/>
          </a:xfrm>
          <a:prstGeom prst="rect">
            <a:avLst/>
          </a:prstGeom>
          <a:noFill/>
          <a:ln w="12700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COMPARISON   |  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WHY CHOOSE ZoeConnect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A Platform Decision-Makers Can Stand Behind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Enterprise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Built to support large hospitals and multi-facility chains from day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Role-based security, audit trails and secure authentication throughout.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Modular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Adopt the modules you need now; activate more whenever you're ready.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Cloud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Deploy on public or private cloud infrastructure with ease.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On-Premise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Or keep everything within your own data center, your choice.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Easy HIS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Connects cleanly with the hospital systems you already run.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WHY ZoeConnect   |  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WHY CHOOSE ZoeConnect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Fast To Deploy. Economical To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Role-based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Every user sees exactly what their role requires, nothing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408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09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From a single OPD counter to hundreds of displays and branches.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155448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264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656" y="226771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Fast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261518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Structured rollout gets you live in weeks, not quarters.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Low Maintenance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Centralized management minimizes ongoing IT overhead.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864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408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08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809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Cost Effective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809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Modular pricing means you invest only in what you use.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77200" y="3520440"/>
            <a:ext cx="3444240" cy="16916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2648" y="367588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2648" y="367588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656" y="4233672"/>
            <a:ext cx="300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2E52"/>
                </a:solidFill>
                <a:latin typeface="Calibri"/>
              </a:rPr>
              <a:t>Future Expansion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656" y="4581144"/>
            <a:ext cx="3005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E4C63"/>
                </a:solidFill>
                <a:latin typeface="Calibri"/>
              </a:rPr>
              <a:t>A clear roadmap of modules ready when your hospital is.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WHY ZoeConnect   |  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TECHNICAL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Enterprise Architecture, Simplified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REST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Open, standards-based APIs for clean integration with other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Secure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Modern authentication protocols protect every access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50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Role Based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Fine-grained permissions across users, roles and locations.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550" y="155448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2550" y="155448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7998" y="170992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998" y="170992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2006" y="226771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Audit Trails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2006" y="261518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Every critical action is logged for compliance and traceability.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Real-time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Live data propagation across dashboards, displays and devices.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757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1757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7301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301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702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Offline Capability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702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Core functions continue working through network interruptions.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506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506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050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50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451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Cross-platform &amp; Browser Based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51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Runs on desktops, tablets, TVs and mobile browsers alike.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2550" y="3246120"/>
            <a:ext cx="254889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72550" y="3246120"/>
            <a:ext cx="2548890" cy="1463040"/>
          </a:xfrm>
          <a:prstGeom prst="roundRect">
            <a:avLst>
              <a:gd name="adj" fmla="val 4500"/>
            </a:avLst>
          </a:prstGeom>
          <a:noFill/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7998" y="3401568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998" y="34015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2006" y="3959352"/>
            <a:ext cx="21099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E52"/>
                </a:solidFill>
                <a:latin typeface="Calibri"/>
              </a:rPr>
              <a:t>Mobile Compatible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2006" y="4306824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 i="0">
                <a:solidFill>
                  <a:srgbClr val="3E4C63"/>
                </a:solidFill>
                <a:latin typeface="Calibri"/>
              </a:rPr>
              <a:t>Fully responsive experiences for staff and patients on the move.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6CA8"/>
                </a:solidFill>
                <a:latin typeface="Calibri"/>
              </a:rPr>
              <a:t>DEPLOYMENT MODELS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On-Premise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900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Private Cloud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0684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5532120"/>
            <a:ext cx="2514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Multi-Hospital Deployment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TECHNICAL   |  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Built For Every Kind Of Healthcare Provider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59636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9636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Private Hospitals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0268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0268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Government Hospitals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00900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900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Medical Colleges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6916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71532" y="18745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1532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5603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Dental Hospitals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59636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9636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Eye Hospitals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0268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0268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Speciality Clinics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00900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900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Diagnostic Centers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1976" y="3291840"/>
            <a:ext cx="2587752" cy="141732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71532" y="34747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71532" y="34747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6" y="4160520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E52"/>
                </a:solidFill>
                <a:latin typeface="Calibri"/>
              </a:rPr>
              <a:t>Multi-location Hospital Chains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INDUSTRIES   |   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12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Calibri"/>
              </a:rPr>
              <a:t>THE ZoeConnect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2E52"/>
                </a:solidFill>
                <a:latin typeface="Calibri"/>
              </a:rPr>
              <a:t>Your Platform Keeps Growing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E4C63"/>
                </a:solidFill>
                <a:latin typeface="Calibri"/>
              </a:rPr>
              <a:t>ZoeConnect is built as a modular platform. Beyond the three modules live today, the following capabilities can be activated as your hospital's digital strategy matures: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Patient Loyalty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Digital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Attendance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976" y="205740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05740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Doctor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 Theatre Mgmt.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Emergency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Appointment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315468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15468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Patient Mobile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Visitor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AI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Digital Consent Forms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4251960"/>
            <a:ext cx="2587752" cy="914400"/>
          </a:xfrm>
          <a:prstGeom prst="roundRect">
            <a:avLst>
              <a:gd name="adj" fmla="val 14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4251960"/>
            <a:ext cx="23134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Employee Self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B7A93"/>
                </a:solidFill>
                <a:latin typeface="Calibri"/>
              </a:rPr>
              <a:t>...and other future healthcare digital transformation modules, all on one connected platform.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D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ZoeConnect - ZoeConnect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6539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A93"/>
                </a:solidFill>
                <a:latin typeface="Calibri"/>
              </a:rPr>
              <a:t>ROADMAP   |   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29400" y="-2606040"/>
            <a:ext cx="7772400" cy="777240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1737360"/>
            <a:ext cx="6035040" cy="603504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868680"/>
            <a:ext cx="4297680" cy="4297680"/>
          </a:xfrm>
          <a:prstGeom prst="ellipse">
            <a:avLst/>
          </a:prstGeom>
          <a:noFill/>
          <a:ln w="12700">
            <a:solidFill>
              <a:srgbClr val="1B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3749039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3749039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2E52"/>
                </a:solidFill>
                <a:latin typeface="Calibri"/>
              </a:rPr>
              <a:t>LET'S BUILD YOUR DIGITAL 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Digital Healthcare Starts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2651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Transform Patient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" y="31272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3580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Improve Operational Efficiency.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3602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1129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Empower Hospital Staff.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407822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AD1"/>
                </a:solidFill>
                <a:latin typeface="Calibri"/>
              </a:rPr>
              <a:t>Build Smarter Hospitals.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12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B4D8"/>
                </a:solidFill>
                <a:latin typeface="Calibri"/>
              </a:rPr>
              <a:t>TALK TO OUR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3036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Email: contact@hdsp-platform.com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Phone: +91-00000-00000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920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B4D8"/>
                </a:solidFill>
                <a:latin typeface="Calibri"/>
              </a:rPr>
              <a:t>REQUEST A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23036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www.hdsp-platform.com/demo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Schedule a live walkthrough with our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F9AD1"/>
                </a:solidFill>
                <a:latin typeface="Calibri"/>
              </a:rPr>
              <a:t>ZoeConnect - ZoeConnect  |  Smart Token Management  |  Digital CMS  |  Patient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